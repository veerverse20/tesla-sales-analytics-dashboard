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4EA0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Y</c:v>
                  </c:pt>
                  <c:pt idx="1">
                    <c:v>Semi</c:v>
                  </c:pt>
                  <c:pt idx="2">
                    <c:v>Cybertruck</c:v>
                  </c:pt>
                  <c:pt idx="3">
                    <c:v>Model 3</c:v>
                  </c:pt>
                  <c:pt idx="4">
                    <c:v>Model X</c:v>
                  </c:pt>
                  <c:pt idx="5">
                    <c:v>Model 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28</c:v>
                </c:pt>
                <c:pt idx="2">
                  <c:v>27</c:v>
                </c:pt>
                <c:pt idx="3">
                  <c:v>29</c:v>
                </c:pt>
                <c:pt idx="4">
                  <c:v>28</c:v>
                </c:pt>
                <c:pt idx="5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1B2C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Y</c:v>
                  </c:pt>
                  <c:pt idx="1">
                    <c:v>Semi</c:v>
                  </c:pt>
                  <c:pt idx="2">
                    <c:v>Cybertruck</c:v>
                  </c:pt>
                  <c:pt idx="3">
                    <c:v>Model 3</c:v>
                  </c:pt>
                  <c:pt idx="4">
                    <c:v>Model X</c:v>
                  </c:pt>
                  <c:pt idx="5">
                    <c:v>Model 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</c:v>
                </c:pt>
                <c:pt idx="1">
                  <c:v>29</c:v>
                </c:pt>
                <c:pt idx="2">
                  <c:v>33</c:v>
                </c:pt>
                <c:pt idx="3">
                  <c:v>31</c:v>
                </c:pt>
                <c:pt idx="4">
                  <c:v>30</c:v>
                </c:pt>
                <c:pt idx="5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F07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Y</c:v>
                  </c:pt>
                  <c:pt idx="1">
                    <c:v>Semi</c:v>
                  </c:pt>
                  <c:pt idx="2">
                    <c:v>Cybertruck</c:v>
                  </c:pt>
                  <c:pt idx="3">
                    <c:v>Model 3</c:v>
                  </c:pt>
                  <c:pt idx="4">
                    <c:v>Model X</c:v>
                  </c:pt>
                  <c:pt idx="5">
                    <c:v>Model 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</c:v>
                </c:pt>
                <c:pt idx="1">
                  <c:v>26</c:v>
                </c:pt>
                <c:pt idx="2">
                  <c:v>34</c:v>
                </c:pt>
                <c:pt idx="3">
                  <c:v>27</c:v>
                </c:pt>
                <c:pt idx="4">
                  <c:v>29</c:v>
                </c:pt>
                <c:pt idx="5">
                  <c:v>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6C3D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Y</c:v>
                  </c:pt>
                  <c:pt idx="1">
                    <c:v>Semi</c:v>
                  </c:pt>
                  <c:pt idx="2">
                    <c:v>Cybertruck</c:v>
                  </c:pt>
                  <c:pt idx="3">
                    <c:v>Model 3</c:v>
                  </c:pt>
                  <c:pt idx="4">
                    <c:v>Model X</c:v>
                  </c:pt>
                  <c:pt idx="5">
                    <c:v>Model S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27</c:v>
                </c:pt>
                <c:pt idx="1">
                  <c:v>30</c:v>
                </c:pt>
                <c:pt idx="2">
                  <c:v>24</c:v>
                </c:pt>
                <c:pt idx="3">
                  <c:v>29</c:v>
                </c:pt>
                <c:pt idx="4">
                  <c:v>31</c:v>
                </c:pt>
                <c:pt idx="5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E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E6E"/>
                    </a:solidFill>
                    <a:latin typeface="Arial"/>
                  </a:rPr>
                  <a:t>Avg Delay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E6E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($bn)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A0E8"/>
              </a:solidFill>
              <a:effectLst/>
            </c:spPr>
          </c:dPt>
          <c:dPt>
            <c:idx val="1"/>
            <c:bubble3D val="0"/>
            <c:spPr>
              <a:solidFill>
                <a:srgbClr val="1B2C6B"/>
              </a:solidFill>
              <a:effectLst/>
            </c:spPr>
          </c:dPt>
          <c:dPt>
            <c:idx val="2"/>
            <c:bubble3D val="0"/>
            <c:spPr>
              <a:solidFill>
                <a:srgbClr val="F07C3C"/>
              </a:solidFill>
              <a:effectLst/>
            </c:spPr>
          </c:dPt>
          <c:dPt>
            <c:idx val="3"/>
            <c:bubble3D val="0"/>
            <c:spPr>
              <a:solidFill>
                <a:srgbClr val="D64A9A"/>
              </a:solidFill>
              <a:effectLst/>
            </c:spPr>
          </c:dPt>
          <c:dPt>
            <c:idx val="4"/>
            <c:bubble3D val="0"/>
            <c:spPr>
              <a:solidFill>
                <a:srgbClr val="6C3D9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Europe</c:v>
                </c:pt>
                <c:pt idx="1">
                  <c:v>Asia</c:v>
                </c:pt>
                <c:pt idx="2">
                  <c:v>Australia</c:v>
                </c:pt>
                <c:pt idx="3">
                  <c:v>North America</c:v>
                </c:pt>
                <c:pt idx="4">
                  <c:v>South America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121</c:v>
                </c:pt>
                <c:pt idx="1">
                  <c:v>116.4</c:v>
                </c:pt>
                <c:pt idx="2">
                  <c:v>113.5</c:v>
                </c:pt>
                <c:pt idx="3">
                  <c:v>113.25</c:v>
                </c:pt>
                <c:pt idx="4">
                  <c:v>105.5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6E6E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1B2C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X</c:v>
                  </c:pt>
                  <c:pt idx="1">
                    <c:v>Semi</c:v>
                  </c:pt>
                  <c:pt idx="2">
                    <c:v>Model S</c:v>
                  </c:pt>
                  <c:pt idx="3">
                    <c:v>Model 3</c:v>
                  </c:pt>
                  <c:pt idx="4">
                    <c:v>Cybertruck</c:v>
                  </c:pt>
                  <c:pt idx="5">
                    <c:v>Model 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</c:v>
                </c:pt>
                <c:pt idx="1">
                  <c:v>295</c:v>
                </c:pt>
                <c:pt idx="2">
                  <c:v>276</c:v>
                </c:pt>
                <c:pt idx="3">
                  <c:v>274</c:v>
                </c:pt>
                <c:pt idx="4">
                  <c:v>269</c:v>
                </c:pt>
                <c:pt idx="5">
                  <c:v>266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Australia</c:v>
                </c:pt>
              </c:strCache>
            </c:strRef>
          </c:tx>
          <c:spPr>
            <a:solidFill>
              <a:srgbClr val="F07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X</c:v>
                  </c:pt>
                  <c:pt idx="1">
                    <c:v>Semi</c:v>
                  </c:pt>
                  <c:pt idx="2">
                    <c:v>Model S</c:v>
                  </c:pt>
                  <c:pt idx="3">
                    <c:v>Model 3</c:v>
                  </c:pt>
                  <c:pt idx="4">
                    <c:v>Cybertruck</c:v>
                  </c:pt>
                  <c:pt idx="5">
                    <c:v>Model 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213</c:v>
                </c:pt>
                <c:pt idx="1">
                  <c:v>209</c:v>
                </c:pt>
                <c:pt idx="2">
                  <c:v>196</c:v>
                </c:pt>
                <c:pt idx="3">
                  <c:v>194</c:v>
                </c:pt>
                <c:pt idx="4">
                  <c:v>190</c:v>
                </c:pt>
                <c:pt idx="5">
                  <c:v>189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4EA0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X</c:v>
                  </c:pt>
                  <c:pt idx="1">
                    <c:v>Semi</c:v>
                  </c:pt>
                  <c:pt idx="2">
                    <c:v>Model S</c:v>
                  </c:pt>
                  <c:pt idx="3">
                    <c:v>Model 3</c:v>
                  </c:pt>
                  <c:pt idx="4">
                    <c:v>Cybertruck</c:v>
                  </c:pt>
                  <c:pt idx="5">
                    <c:v>Model Y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275</c:v>
                </c:pt>
                <c:pt idx="1">
                  <c:v>271</c:v>
                </c:pt>
                <c:pt idx="2">
                  <c:v>253</c:v>
                </c:pt>
                <c:pt idx="3">
                  <c:v>251</c:v>
                </c:pt>
                <c:pt idx="4">
                  <c:v>246</c:v>
                </c:pt>
                <c:pt idx="5">
                  <c:v>244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 America</c:v>
                </c:pt>
              </c:strCache>
            </c:strRef>
          </c:tx>
          <c:spPr>
            <a:solidFill>
              <a:srgbClr val="6C3D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X</c:v>
                  </c:pt>
                  <c:pt idx="1">
                    <c:v>Semi</c:v>
                  </c:pt>
                  <c:pt idx="2">
                    <c:v>Model S</c:v>
                  </c:pt>
                  <c:pt idx="3">
                    <c:v>Model 3</c:v>
                  </c:pt>
                  <c:pt idx="4">
                    <c:v>Cybertruck</c:v>
                  </c:pt>
                  <c:pt idx="5">
                    <c:v>Model Y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200</c:v>
                </c:pt>
                <c:pt idx="1">
                  <c:v>197</c:v>
                </c:pt>
                <c:pt idx="2">
                  <c:v>184</c:v>
                </c:pt>
                <c:pt idx="3">
                  <c:v>182</c:v>
                </c:pt>
                <c:pt idx="4">
                  <c:v>179</c:v>
                </c:pt>
                <c:pt idx="5">
                  <c:v>178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D64A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 X</c:v>
                  </c:pt>
                  <c:pt idx="1">
                    <c:v>Semi</c:v>
                  </c:pt>
                  <c:pt idx="2">
                    <c:v>Model S</c:v>
                  </c:pt>
                  <c:pt idx="3">
                    <c:v>Model 3</c:v>
                  </c:pt>
                  <c:pt idx="4">
                    <c:v>Cybertruck</c:v>
                  </c:pt>
                  <c:pt idx="5">
                    <c:v>Model Y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263</c:v>
                </c:pt>
                <c:pt idx="1">
                  <c:v>258</c:v>
                </c:pt>
                <c:pt idx="2">
                  <c:v>242</c:v>
                </c:pt>
                <c:pt idx="3">
                  <c:v>239</c:v>
                </c:pt>
                <c:pt idx="4">
                  <c:v>235</c:v>
                </c:pt>
                <c:pt idx="5">
                  <c:v>233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E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E6E"/>
                    </a:solidFill>
                    <a:latin typeface="Arial"/>
                  </a:rPr>
                  <a:t>Total Units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E6E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($bn)</c:v>
                </c:pt>
              </c:strCache>
            </c:strRef>
          </c:tx>
          <c:spPr>
            <a:solidFill>
              <a:srgbClr val="4EA0E8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35</c:v>
                </c:pt>
                <c:pt idx="1">
                  <c:v>47</c:v>
                </c:pt>
                <c:pt idx="2">
                  <c:v>39</c:v>
                </c:pt>
                <c:pt idx="3">
                  <c:v>41.5</c:v>
                </c:pt>
                <c:pt idx="4">
                  <c:v>39.5</c:v>
                </c:pt>
                <c:pt idx="5">
                  <c:v>43.5</c:v>
                </c:pt>
                <c:pt idx="6">
                  <c:v>44.5</c:v>
                </c:pt>
                <c:pt idx="7">
                  <c:v>42</c:v>
                </c:pt>
                <c:pt idx="8">
                  <c:v>39.5</c:v>
                </c:pt>
                <c:pt idx="9">
                  <c:v>45.5</c:v>
                </c:pt>
                <c:pt idx="10">
                  <c:v>46.5</c:v>
                </c:pt>
                <c:pt idx="11">
                  <c:v>43</c:v>
                </c:pt>
                <c:pt idx="12">
                  <c:v>49</c:v>
                </c:pt>
                <c:pt idx="13">
                  <c:v>50.5</c:v>
                </c:pt>
                <c:pt idx="14">
                  <c:v>50.5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E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E6E"/>
                    </a:solidFill>
                    <a:latin typeface="Arial"/>
                  </a:rPr>
                  <a:t>Revenue ($bn)</a:t>
                </a:r>
              </a:p>
            </c:rich>
          </c:tx>
          <c:layout/>
          <c:overlay val="0"/>
        </c:title>
        <c:numFmt formatCode="&quot;$&quot;#,##0&quot;bn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ll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46520" y="0"/>
            <a:ext cx="5742432" cy="6858000"/>
          </a:xfrm>
          <a:prstGeom prst="rect">
            <a:avLst/>
          </a:prstGeom>
          <a:solidFill>
            <a:srgbClr val="0D0D0D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WALKTHROUGH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182880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Global Sales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Analytics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dashboard's KPIs and six charts — what each one measures, how to read it, and why it matters for Tesla's global operations.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502920" cy="54864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prepared from the Tesla Global Sales and Analytics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single-page dashboard tracks Tesla's global vehicle sales, revenue, and delivery performance. A quarter filter (top-left) lets viewers isolate Q1–Q4, while six visuals break performance down by model, region, and year.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423160"/>
            <a:ext cx="457200" cy="457200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06324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49808" y="37216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4142232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vehicles delivered across every model and region.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2423160"/>
            <a:ext cx="457200" cy="457200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306324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$569.65bn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47872" y="37216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47872" y="4142232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 generated across all regions and years.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4768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2423160"/>
            <a:ext cx="457200" cy="457200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5936" y="306324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$77.48K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345936" y="37216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45936" y="4142232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average price per vehicle across the full lineup.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42832" y="2148840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0" y="2423160"/>
            <a:ext cx="457200" cy="457200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306324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30.24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144000" y="372160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Days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0" y="4142232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gap between order and delivery, across all models.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01 · CLUSTERED BAR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Delay Days by Model and Quarter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704088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is a model; the four bars inside it are Q1–Q4. Bar height is the average number of days between order placement and delivery for that model in that quarter.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743200"/>
            <a:ext cx="38404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3246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cluster in the 22–34 day range with no single model consistently fastest or slowest — useful for spotting whether a production ramp (e.g. Cybertruck) is dragging fulfillment times in a given quarter.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02 · DONUT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by Region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234440"/>
          <a:ext cx="60350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280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0" y="1645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is one of five regions Tesla sells into. Slice size is that region's share of the $569.65bn total revenue; the dollar figure and percentage are both shown on the live dashboard.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2788920"/>
            <a:ext cx="42976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2926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3291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remarkably balanced — every region sits between 18% and 21% of the total. Europe leads narrowly, showing Tesla's revenue base is globally diversified rather than concentrated in one market.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03 · STACKED COLUMN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Units by Model and Region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704088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a model; the five colored segments stacked inside it show how that model's unit sales split across Asia, Australia, Europe, South America, and North America.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788920"/>
            <a:ext cx="38404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32918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heights are close across all six models (~7M units total), while the internal split shows Asia and Europe consistently outselling South America — pointing to where demand, and future capacity planning, should focus.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04 · AREA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 by Year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704088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traces total revenue year over year, with the shaded area emphasizing overall volume. Peaks and dips mark strong and weak years for global sales.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743200"/>
            <a:ext cx="38404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32461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early spike and a multi-year dip, revenue trends upward with visible volatility, closing near its highest point yet — the clearest single signal of Tesla's long-run growth trajectory in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05 · SANKEY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Flow: Region →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7040880" cy="5074920"/>
          </a:xfrm>
          <a:prstGeom prst="roundRect">
            <a:avLst>
              <a:gd name="adj" fmla="val 1441"/>
            </a:avLst>
          </a:prstGeom>
          <a:solidFill>
            <a:srgbClr val="F7F7F7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6" name="Image 0" descr="assets/sankey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554480"/>
            <a:ext cx="6583680" cy="3913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23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live dashboard visual (Sankey charts are rendered natively in the BI tool, shown here as captured).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181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16459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connect each region (left) to each model (right). Ribbon thickness represents the amount of revenue that region generated from that model — colored by model per the legend.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2834640"/>
            <a:ext cx="38404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18120" y="3337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detailed view in the dashboard: it shows not just how much each region earns, but which models drive that revenue — letting analysts spot, for example, a region over-reliant on a single model.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charts and four KPIs together, as they appear on the live single-page dashboard — giving the full picture in one 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11096" y="1783080"/>
            <a:ext cx="8366760" cy="4544568"/>
          </a:xfrm>
          <a:prstGeom prst="roundRect">
            <a:avLst>
              <a:gd name="adj" fmla="val 1207"/>
            </a:avLst>
          </a:prstGeom>
          <a:solidFill>
            <a:srgbClr val="F7F7F7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assets/full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02536" y="1874520"/>
            <a:ext cx="8183880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10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502920" cy="54864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109728" cy="109728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balanced revenue 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region drives more than 21% of the $569.65bn total — Tesla's revenue is spread evenly across five continents.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109728" cy="109728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are consistent, not spiking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0574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sits near 30 days across every model and quarter, with no runaway outlier to flag operationally.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9728" cy="109728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84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sales are model-agnostic across regions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models sell in comparable volumes (~1.1–1.25M units each), with Asia and Europe leading demand.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109728" cy="109728"/>
          </a:xfrm>
          <a:prstGeom prst="ellipse">
            <a:avLst/>
          </a:prstGeom>
          <a:solidFill>
            <a:srgbClr val="E3193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584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has grown despite volatility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9776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yearly trend shows real dips, but the overall trajectory from ~$35bn to ~$50bn+ confirms sustained growth.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2026-08-11T03:40:42Z</dcterms:created>
  <dcterms:modified xsi:type="dcterms:W3CDTF">2026-08-11T03:40:42Z</dcterms:modified>
</cp:coreProperties>
</file>